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417320"/>
            <a:ext cx="10515600" cy="8229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3600" b="1">
                <a:solidFill>
                  <a:srgbClr val="17314F"/>
                </a:solidFill>
                <a:latin typeface="Aptos"/>
              </a:defRPr>
            </a:pPr>
            <a:r>
              <a:t>NEXUS-M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2331720"/>
            <a:ext cx="10515600" cy="6400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300" b="1">
                <a:solidFill>
                  <a:srgbClr val="2B69AA"/>
                </a:solidFill>
                <a:latin typeface="Aptos"/>
              </a:defRPr>
            </a:pPr>
            <a:r>
              <a:t>EXECUTIVE NETWORK INTELLIGENCE BRIEFING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3154680"/>
            <a:ext cx="10515600" cy="5943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500" b="0">
                <a:solidFill>
                  <a:srgbClr val="69737D"/>
                </a:solidFill>
                <a:latin typeface="Aptos"/>
              </a:defRPr>
            </a:pPr>
            <a:r>
              <a:t>Payment performance | Root-cause insights | Opportunities | Reconciliation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22960" y="5989320"/>
            <a:ext cx="10515600" cy="32004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100" b="0">
                <a:solidFill>
                  <a:srgbClr val="69737D"/>
                </a:solidFill>
                <a:latin typeface="Aptos"/>
              </a:defRPr>
            </a:pPr>
            <a:r>
              <a:t>Portfolio demonstration using synthetic data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800" b="0">
                <a:solidFill>
                  <a:srgbClr val="69737D"/>
                </a:solidFill>
                <a:latin typeface="Aptos"/>
              </a:defRPr>
            </a:pPr>
            <a:r>
              <a:t>NEXUS-M | Synthetic-data portfolio project | 1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500" b="1">
                <a:solidFill>
                  <a:srgbClr val="17314F"/>
                </a:solidFill>
                <a:latin typeface="Aptos"/>
              </a:defRPr>
            </a:pPr>
            <a:r>
              <a:t>Executive Summary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Transaction count: Not available</a:t>
            </a:r>
          </a:p>
          <a:p>
            <a:pPr>
              <a:spcAft>
                <a:spcPts val="17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Transaction value: Not available</a:t>
            </a:r>
          </a:p>
          <a:p>
            <a:pPr>
              <a:spcAft>
                <a:spcPts val="17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Success rate: Not available</a:t>
            </a:r>
          </a:p>
          <a:p>
            <a:pPr>
              <a:spcAft>
                <a:spcPts val="17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Failure rate: Not available</a:t>
            </a:r>
          </a:p>
          <a:p>
            <a:pPr>
              <a:spcAft>
                <a:spcPts val="17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Review the partner, regional, and root-cause outputs before selecting operational priorities.</a:t>
            </a:r>
          </a:p>
          <a:p>
            <a:pPr>
              <a:spcAft>
                <a:spcPts val="17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Opportunity values are scenario estimates, not guaranteed financial outcomes.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800" b="0">
                <a:solidFill>
                  <a:srgbClr val="69737D"/>
                </a:solidFill>
                <a:latin typeface="Aptos"/>
              </a:defRPr>
            </a:pPr>
            <a:r>
              <a:t>NEXUS-M | Synthetic-data portfolio project | 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500" b="1">
                <a:solidFill>
                  <a:srgbClr val="17314F"/>
                </a:solidFill>
                <a:latin typeface="Aptos"/>
              </a:defRPr>
            </a:pPr>
            <a:r>
              <a:t>Partner Performance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100" b="0">
                <a:solidFill>
                  <a:srgbClr val="69737D"/>
                </a:solidFill>
                <a:latin typeface="Aptos"/>
              </a:defRPr>
            </a:pPr>
            <a:r>
              <a:t>Based on available Phase 4 outputs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6007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Partner Key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Transactions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Transaction Value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Successful Transactions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Failed Transactions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20891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51724435.87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19834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1057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20979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51479641.17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19922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1057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20947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51482550.64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19901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1046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20946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51374961.48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19911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1035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20863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49615139.67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19834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1029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20972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52041093.44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19941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1031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21051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51474053.7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20018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1033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800" b="0">
                <a:solidFill>
                  <a:srgbClr val="69737D"/>
                </a:solidFill>
                <a:latin typeface="Aptos"/>
              </a:defRPr>
            </a:pPr>
            <a:r>
              <a:t>NEXUS-M | Synthetic-data portfolio project | 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500" b="1">
                <a:solidFill>
                  <a:srgbClr val="17314F"/>
                </a:solidFill>
                <a:latin typeface="Aptos"/>
              </a:defRPr>
            </a:pPr>
            <a:r>
              <a:t>Regional Performance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6007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Region Key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Transactions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Transaction Value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Successful Transactions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Failed Transactions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31368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76101943.18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29782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1586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31482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76819842.32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29905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1577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31434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77165682.02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29893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1541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31173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77024445.77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29657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1516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31123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75547450.35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29614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1509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31665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78749684.2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30136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1529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31459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77130852.76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29945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1514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800" b="0">
                <a:solidFill>
                  <a:srgbClr val="69737D"/>
                </a:solidFill>
                <a:latin typeface="Aptos"/>
              </a:defRPr>
            </a:pPr>
            <a:r>
              <a:t>NEXUS-M | Synthetic-data portfolio project | 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500" b="1">
                <a:solidFill>
                  <a:srgbClr val="17314F"/>
                </a:solidFill>
                <a:latin typeface="Aptos"/>
              </a:defRPr>
            </a:pPr>
            <a:r>
              <a:t>Root-Cause Investigation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6007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Partner Key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Baseline Transactions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Baseline Failures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Baseline Value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Incident Transactions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20771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1054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51389160.2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120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20869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51662320.53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103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20832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51207053.11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115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20841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1028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51072422.91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105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20886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51298892.71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93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20942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1023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51213610.97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109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20755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1026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49367467.49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108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800" b="0">
                <a:solidFill>
                  <a:srgbClr val="69737D"/>
                </a:solidFill>
                <a:latin typeface="Aptos"/>
              </a:defRPr>
            </a:pPr>
            <a:r>
              <a:t>NEXUS-M | Synthetic-data portfolio project | 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500" b="1">
                <a:solidFill>
                  <a:srgbClr val="17314F"/>
                </a:solidFill>
                <a:latin typeface="Aptos"/>
              </a:defRPr>
            </a:pPr>
            <a:r>
              <a:t>Opportunity Prioritization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868680"/>
            <a:ext cx="10972800" cy="36576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1100" b="0">
                <a:solidFill>
                  <a:srgbClr val="69737D"/>
                </a:solidFill>
                <a:latin typeface="Aptos"/>
              </a:defRPr>
            </a:pPr>
            <a:r>
              <a:t>Estimated recovery scenarios; validate assumptions before action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594360" y="1417320"/>
          <a:ext cx="10972800" cy="44805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194560"/>
                <a:gridCol w="2194560"/>
                <a:gridCol w="2194560"/>
                <a:gridCol w="2194560"/>
                <a:gridCol w="2194560"/>
              </a:tblGrid>
              <a:tr h="560070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Merchant Key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Transaction Count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Transaction Value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Failed Transactions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Failed Value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20947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51482550.64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2753410.2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502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1263583.8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64858.98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20972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52041093.44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1031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2707179.65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20946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51374961.48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1035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2539033.52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20891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51724435.87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1057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2626264.28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31368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76101943.18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1586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3957848.81</a:t>
                      </a:r>
                    </a:p>
                  </a:txBody>
                  <a:tcPr/>
                </a:tc>
              </a:tr>
              <a:tr h="560070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21051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51474053.7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1033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2424248.21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800" b="0">
                <a:solidFill>
                  <a:srgbClr val="69737D"/>
                </a:solidFill>
                <a:latin typeface="Aptos"/>
              </a:defRPr>
            </a:pPr>
            <a:r>
              <a:t>NEXUS-M | Synthetic-data portfolio project | 6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500" b="1">
                <a:solidFill>
                  <a:srgbClr val="17314F"/>
                </a:solidFill>
                <a:latin typeface="Aptos"/>
              </a:defRPr>
            </a:pPr>
            <a:r>
              <a:t>Settlement Reconciliation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2801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Total Transactions: 251,250</a:t>
            </a:r>
          </a:p>
          <a:p>
            <a:pPr>
              <a:spcAft>
                <a:spcPts val="17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Exception Transactions: 16,530</a:t>
            </a:r>
          </a:p>
          <a:p>
            <a:pPr>
              <a:spcAft>
                <a:spcPts val="17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Total Transaction Value: 615,989,272.66</a:t>
            </a:r>
          </a:p>
          <a:p>
            <a:pPr>
              <a:spcAft>
                <a:spcPts val="17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Exception Transaction Value: 40,720,066.55</a:t>
            </a:r>
          </a:p>
          <a:p>
            <a:pPr>
              <a:spcAft>
                <a:spcPts val="17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Absolute Amount Difference: 35,889,974.60</a:t>
            </a:r>
          </a:p>
          <a:p>
            <a:pPr>
              <a:spcAft>
                <a:spcPts val="17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Matched Transactions: 234,720</a:t>
            </a:r>
          </a:p>
          <a:p>
            <a:pPr>
              <a:spcAft>
                <a:spcPts val="17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Match Rate: 0.93</a:t>
            </a:r>
          </a:p>
          <a:p>
            <a:pPr>
              <a:spcAft>
                <a:spcPts val="17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Reconciliation Score: 93.42</a:t>
            </a: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640080" y="3931920"/>
          <a:ext cx="10789920" cy="19202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697480"/>
                <a:gridCol w="2697480"/>
                <a:gridCol w="2697480"/>
                <a:gridCol w="2697480"/>
              </a:tblGrid>
              <a:tr h="384048"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Exception Type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Transaction Count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Transaction Value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000">
                          <a:solidFill>
                            <a:srgbClr val="FFFFFF"/>
                          </a:solidFill>
                        </a:defRPr>
                      </a:pPr>
                      <a:r>
                        <a:t>Amount Difference</a:t>
                      </a:r>
                    </a:p>
                  </a:txBody>
                  <a:tcPr>
                    <a:solidFill>
                      <a:srgbClr val="17314F"/>
                    </a:solidFill>
                  </a:tcPr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MATCHED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234720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575269206.11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0.0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MISSING_SETTLEMENT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12281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30137839.73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30139839.73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DUPLICATE_SETTLEMENT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2352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5629639.43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5629114.51</a:t>
                      </a:r>
                    </a:p>
                  </a:txBody>
                  <a:tcPr/>
                </a:tc>
              </a:tr>
              <a:tr h="384048"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AMOUNT_MISMATCH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1897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4952587.39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>
                        <a:defRPr sz="900">
                          <a:solidFill>
                            <a:srgbClr val="2D343C"/>
                          </a:solidFill>
                        </a:defRPr>
                      </a:pPr>
                      <a:r>
                        <a:t>121020.36</a:t>
                      </a:r>
                    </a:p>
                  </a:txBody>
                  <a:tcPr/>
                </a:tc>
              </a:tr>
            </a:tbl>
          </a:graphicData>
        </a:graphic>
      </p:graphicFrame>
      <p:sp>
        <p:nvSpPr>
          <p:cNvPr id="5" name="TextBox 4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800" b="0">
                <a:solidFill>
                  <a:srgbClr val="69737D"/>
                </a:solidFill>
                <a:latin typeface="Aptos"/>
              </a:defRPr>
            </a:pPr>
            <a:r>
              <a:t>NEXUS-M | Synthetic-data portfolio project | 7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320040"/>
            <a:ext cx="10972800" cy="50292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2500" b="1">
                <a:solidFill>
                  <a:srgbClr val="17314F"/>
                </a:solidFill>
                <a:latin typeface="Aptos"/>
              </a:defRPr>
            </a:pPr>
            <a:r>
              <a:t>Recommended Next Actions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31520" y="1508760"/>
            <a:ext cx="1069848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7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Validate the most significant partner and regional performance changes against the underlying records.</a:t>
            </a:r>
          </a:p>
          <a:p>
            <a:pPr>
              <a:spcAft>
                <a:spcPts val="17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Investigate high-impact root-cause candidates and confirm whether they are operationally actionable.</a:t>
            </a:r>
          </a:p>
          <a:p>
            <a:pPr>
              <a:spcAft>
                <a:spcPts val="17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Prioritize opportunities using estimated recoverable value, evidence quality, and implementation effort.</a:t>
            </a:r>
          </a:p>
          <a:p>
            <a:pPr>
              <a:spcAft>
                <a:spcPts val="17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Resolve high-priority reconciliation exceptions and distinguish transaction exposure from actual discrepancies.</a:t>
            </a:r>
          </a:p>
          <a:p>
            <a:pPr>
              <a:spcAft>
                <a:spcPts val="1700"/>
              </a:spcAft>
              <a:defRPr sz="1700">
                <a:solidFill>
                  <a:srgbClr val="2D343C"/>
                </a:solidFill>
                <a:latin typeface="Aptos"/>
              </a:defRPr>
            </a:pPr>
            <a:r>
              <a:t>Maintain data-quality checks, metric definitions, lineage, and reviewable analytical outputs.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594360" y="6510528"/>
            <a:ext cx="10972800" cy="182880"/>
          </a:xfrm>
          <a:prstGeom prst="rect">
            <a:avLst/>
          </a:prstGeom>
          <a:noFill/>
        </p:spPr>
        <p:txBody>
          <a:bodyPr wrap="square" lIns="45720" rIns="45720" tIns="36576">
            <a:spAutoFit/>
          </a:bodyPr>
          <a:lstStyle/>
          <a:p>
            <a:pPr>
              <a:defRPr sz="800" b="0">
                <a:solidFill>
                  <a:srgbClr val="69737D"/>
                </a:solidFill>
                <a:latin typeface="Aptos"/>
              </a:defRPr>
            </a:pPr>
            <a:r>
              <a:t>NEXUS-M | Synthetic-data portfolio project | 8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